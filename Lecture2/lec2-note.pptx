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C0E0"/>
                </a:solidFill>
                <a:latin typeface="Calibri"/>
              </a:defRPr>
            </a:pPr>
            <a:r>
              <a:t>bean_cat's Python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Lecture 2: Short Circuiting,</a:t>
            </a:r>
            <a:br/>
            <a:r>
              <a:t>Lambda Expressions &amp; Recursion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0A0C0"/>
                </a:solidFill>
                <a:latin typeface="Calibri"/>
              </a:defRPr>
            </a:pPr>
            <a:r>
              <a:t>CS 61A Summer 2026  |  bean_cat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03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1A3A5C"/>
                </a:solidFill>
                <a:latin typeface="Calibri"/>
              </a:defRPr>
            </a:pPr>
            <a:r>
              <a:t>1.  Short Circuiting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   How and/or really work; truthy/falsy values; operator precedence</a:t>
            </a:r>
          </a:p>
          <a:p>
            <a:pPr algn="l">
              <a:spcAft>
                <a:spcPts val="200"/>
              </a:spcAft>
              <a:defRPr sz="2200" b="1">
                <a:solidFill>
                  <a:srgbClr val="1A3A5C"/>
                </a:solidFill>
                <a:latin typeface="Calibri"/>
              </a:defRPr>
            </a:pPr>
            <a:r>
              <a:t>2.  Lambda Expressions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   Anonymous functions; lambda vs def; higher-order function patterns</a:t>
            </a:r>
          </a:p>
          <a:p>
            <a:pPr algn="l">
              <a:spcAft>
                <a:spcPts val="200"/>
              </a:spcAft>
              <a:defRPr sz="2200" b="1">
                <a:solidFill>
                  <a:srgbClr val="1A3A5C"/>
                </a:solidFill>
                <a:latin typeface="Calibri"/>
              </a:defRPr>
            </a:pPr>
            <a:r>
              <a:t>3.  Recursion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   Base case &amp; recursive call; factorial, Fibonacci, sum_digits, cascade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0C0E0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Short Circuiting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Truthy and Falsy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In Python, every value has an implicit boolean truth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4040"/>
                </a:solidFill>
                <a:latin typeface="Calibri"/>
              </a:defRPr>
            </a:pPr>
            <a:r>
              <a:t>Falsy (treated as False)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0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0.0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"" (empty string)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None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[] (empty list)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{} (empty dict)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08030"/>
                </a:solidFill>
                <a:latin typeface="Calibri"/>
              </a:defRPr>
            </a:pPr>
            <a:r>
              <a:t>Truthy (treated as 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517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Non-zero numbers (-1, 3, 2.5)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Non-empty strings ("hello")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Non-empty lists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Non-empty dicts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 Functions and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371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onsolas"/>
              </a:defRPr>
            </a:pPr>
            <a:r>
              <a:t>Use bool() to check any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91639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bool(0)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False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bool(-1)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True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bool(</a:t>
            </a:r>
            <a:r>
              <a:rPr sz="950" b="0">
                <a:solidFill>
                  <a:srgbClr val="FAB387"/>
                </a:solidFill>
                <a:latin typeface="Consolas"/>
              </a:rPr>
              <a:t>""</a:t>
            </a:r>
            <a:r>
              <a:rPr sz="950" b="0">
                <a:solidFill>
                  <a:srgbClr val="A6E3A1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False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bool(</a:t>
            </a:r>
            <a:r>
              <a:rPr sz="950" b="0">
                <a:solidFill>
                  <a:srgbClr val="FAB387"/>
                </a:solidFill>
                <a:latin typeface="Consolas"/>
              </a:rPr>
              <a:t>"hello"</a:t>
            </a:r>
            <a:r>
              <a:rPr sz="950" b="0">
                <a:solidFill>
                  <a:srgbClr val="A6E3A1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and / or: What Do They Really Return?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and and or do NOT always return True or False.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They return the last value that was evaluated.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5303520" cy="128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611879"/>
            <a:ext cx="48463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and rule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Evaluates left to right. Returns the FIRST falsy value.</a:t>
            </a:r>
            <a:br/>
            <a:r>
              <a:t>If all values are truthy, returns the LAST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5303520" cy="1280160"/>
          </a:xfrm>
          <a:prstGeom prst="rect">
            <a:avLst/>
          </a:prstGeom>
          <a:solidFill>
            <a:srgbClr val="EDF7ED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74920"/>
            <a:ext cx="48463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5A2E"/>
                </a:solidFill>
                <a:latin typeface="Calibri"/>
              </a:defRPr>
            </a:pPr>
            <a:r>
              <a:t>or rule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Evaluates left to right. Returns the FIRST truthy value.</a:t>
            </a:r>
            <a:br/>
            <a:r>
              <a:t>If all values are falsy, returns the LAST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17319"/>
            <a:ext cx="4663440" cy="4754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3 and 5       # both truthy, returns last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5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0 and 5       # 0 is falsy, stops here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0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0 or "hello"  # 0 is falsy, keep going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'hello'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"" or 0       # both falsy, returns last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Short Circuiting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Short circuit = stop evaluating once the result is known.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Avoids unnecessary computation (and errors!)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548640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1 / 0                    # always errors!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8080"/>
                </a:solidFill>
                <a:latin typeface="Consolas"/>
              </a:rPr>
              <a:t>ZeroDivisionError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True or 1 / 0           # 1/0 never runs!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True                         # or: first truthy -&gt; stop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False and 1 / 0         # 1/0 never runs!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False                        # and: first falsy -&gt; stop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True and 1 / 0          # 1/0 DOES run!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ZeroDivisionError            # and: True is truthy, keep going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5029200" cy="18288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41731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or: stops at first truthy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True or anything  -&gt;  True (stops immediately)</a:t>
            </a:r>
            <a:br/>
            <a:r>
              <a:t>0 or 'hello' or 1/0  -&gt;  'hello' (stops at 'hello', 1/0 never runs)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474720"/>
            <a:ext cx="5029200" cy="1828800"/>
          </a:xfrm>
          <a:prstGeom prst="rect">
            <a:avLst/>
          </a:prstGeom>
          <a:solidFill>
            <a:srgbClr val="FFF0E0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361187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8B4513"/>
                </a:solidFill>
                <a:latin typeface="Calibri"/>
              </a:defRPr>
            </a:pPr>
            <a:r>
              <a:t>and: stops at first falsy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False and anything  -&gt;  False (stops immediately)</a:t>
            </a:r>
            <a:br/>
            <a:r>
              <a:t>True and False and 1/0  -&gt;  False (stops at False, 1/0 never runs)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Short Circuiting + Operator Precedence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Comparison operators (&gt;, &lt;, ==) bind tighter than and/or.</a:t>
            </a:r>
          </a:p>
          <a:p>
            <a:pPr algn="l">
              <a:spcAft>
                <a:spcPts val="600"/>
              </a:spcAft>
              <a:defRPr sz="1700" b="1">
                <a:solidFill>
                  <a:srgbClr val="C04040"/>
                </a:solidFill>
                <a:latin typeface="Calibri"/>
              </a:defRPr>
            </a:pPr>
            <a:r>
              <a:t>Always check precedence before tracing!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548640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-1 and 1 &gt; 0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Step 1: &gt; binds before and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-1 and (1 &gt; 0)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-1 and True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Step 2: -1 is truthy, and returns last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True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Common misreading: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(-1 and 1) &gt; 0  -&gt;  1 &gt; 0  -&gt;  True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(same answer here, but different logic!)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5029200" cy="2743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417319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Example with functions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&gt;&gt;&gt; def f(x):</a:t>
            </a:r>
            <a:br/>
            <a:r>
              <a:t>...     if x == 0:   return 'zero'</a:t>
            </a:r>
            <a:br/>
            <a:r>
              <a:t>...     elif x &gt; 0:  return 'positive'</a:t>
            </a:r>
            <a:br/>
            <a:r>
              <a:t>...     else:        return ''</a:t>
            </a:r>
            <a:br/>
            <a:br/>
            <a:r>
              <a:t>&gt;&gt;&gt; 0 or f(1)          # 'positive'</a:t>
            </a:r>
            <a:br/>
            <a:r>
              <a:t>   0 is falsy so f(1) runs</a:t>
            </a:r>
            <a:br/>
            <a:br/>
            <a:r>
              <a:t>&gt;&gt;&gt; f(0) or f(-1)      # 'zero'</a:t>
            </a:r>
            <a:br/>
            <a:r>
              <a:t>   f(0) is truthy, f(-1) never runs</a:t>
            </a:r>
            <a:br/>
            <a:br/>
            <a:r>
              <a:t>&gt;&gt;&gt; f(0) and f(-1)     # ''</a:t>
            </a:r>
            <a:br/>
            <a:r>
              <a:t>   f(0) is truthy, and continues to f(-1)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0C0E0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Lambda Expressions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Lambda Expressions: Anonymous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lambda &lt;parameters&gt;: &lt;return expression&gt;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Creates a function without a name. The body is a single expression.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548640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Basic lambda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lambda x: x * 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&lt;function &lt;lambda&gt; at 0x...&gt;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Assign to a name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square = lambda x: x * 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square(3)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9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Multiple parameters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add = lambda x, y: x + y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add(2, 3)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502920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417319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When to use lambda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Short, throwaway functions</a:t>
            </a:r>
            <a:br/>
            <a:r>
              <a:t>  Passing functions as arguments to HOFs</a:t>
            </a:r>
            <a:br/>
            <a:r>
              <a:t>  Simple transformations (map, filter patterns)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200400"/>
            <a:ext cx="5029200" cy="1645920"/>
          </a:xfrm>
          <a:prstGeom prst="rect">
            <a:avLst/>
          </a:prstGeom>
          <a:solidFill>
            <a:srgbClr val="FFF8E8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3337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8B4513"/>
                </a:solidFill>
                <a:latin typeface="Calibri"/>
              </a:defRPr>
            </a:pPr>
            <a:r>
              <a:t>Limitation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Body must be a SINGLE expression</a:t>
            </a:r>
            <a:br/>
            <a:r>
              <a:t>  No statements (if, for, while, =)</a:t>
            </a:r>
            <a:br/>
            <a:r>
              <a:t>  For complex logic, use def instead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Lambda + Higher-Order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Lambda expressions shine when combined with higher-order functions.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685800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64922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Pass lambda directly as argument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&gt;&gt;&gt; def apply(x, f):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...     return f(x)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apply(3, lambda x: x * x)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9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apply(5, lambda x: x + 10)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15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Lambda taking a function as argument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negate = lambda f, x: -f(x)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negate(lambda x: x * x, 3)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-9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Lambda returning a lambda (closure!)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make_adder = lambda n: lambda x: x + n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add_3 = make_adder(3)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add_3(5)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280160"/>
            <a:ext cx="3657600" cy="18288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41731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Pattern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lambda as argument</a:t>
            </a:r>
            <a:br/>
            <a:r>
              <a:t>  lambda as operator</a:t>
            </a:r>
            <a:br/>
            <a:r>
              <a:t>  lambda returning lambda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lambda vs. def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3017520" y="1463040"/>
            <a:ext cx="3931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lambda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463040"/>
            <a:ext cx="3931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22860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965960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057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Expression (usable anywhere)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965960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0574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Statement (alters environment)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6032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5603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651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Anonymous (no intrinsic name)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5603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651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Binds function to a 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154680"/>
            <a:ext cx="22860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Body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154680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3246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Single expression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154680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246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Multiple statements allowed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49039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8404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749039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384047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Short, throwaway functions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3749039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384047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Complex, reusable functions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Both create the same result: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29200"/>
            <a:ext cx="10698480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60"/>
            <a:ext cx="10332719" cy="12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Using def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def square(x):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return x * 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Using lambda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square = lambda x: x * 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square(3)   # both give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0C0E0"/>
                </a:solidFill>
                <a:latin typeface="Calibri"/>
              </a:defRPr>
            </a:pPr>
            <a:r>
              <a:t>Topic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Recursion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Recursion?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Calibri"/>
              </a:defRPr>
            </a:pPr>
            <a:r>
              <a:t>A recursive function calls itself to solve smaller sub-problems.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Why use recursion instead of loops?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  Some problems are naturally recursive (trees, linked lists)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  Some languages (e.g., Scheme) have no loops at all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  Recursive solutions often match mathematical definitions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700" b="1">
                <a:solidFill>
                  <a:srgbClr val="C04040"/>
                </a:solidFill>
                <a:latin typeface="Calibri"/>
              </a:defRPr>
            </a:pPr>
            <a:r>
              <a:t>Trade-off: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  Recursion uses more memory (stack frames)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  Too deep recursion -&gt; RecursionError (stack overflow)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A3A5C"/>
                </a:solidFill>
                <a:latin typeface="Calibri"/>
              </a:defRPr>
            </a:pPr>
            <a:r>
              <a:t>Iteration is a special case of recursion.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Loop thinking: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onsolas"/>
              </a:defRPr>
            </a:pPr>
            <a:r>
              <a:t>  while condition: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onsolas"/>
              </a:defRPr>
            </a:pPr>
            <a:r>
              <a:t>      do_something()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Recursive thinking: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Base case: simplest input, stop here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Recursive case: solve smaller problem,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then combine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Anatomy of a Recursive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Base Case(s)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Simplest possible input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Stops the recursion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May have multiple base cases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Without this: infinite recursion!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474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Recursive Call(s)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Call the same function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On a SMALLER sub-problem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Makes progress toward base case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May have multiple recursive 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Solve Bigger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Combine sub-problem results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Build up to the final answer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"Recursive leap of faith":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trust that the smaller call 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Example 1: Factorial (Iterative vs Recursive)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n! = n x (n-1) x ... x 1, with 0! =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0352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9377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Iterative (while loop)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def factorial_iter(n):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ans = 1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i = 1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while i &lt;= n: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ans = ans * i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i += 1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return 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286000"/>
            <a:ext cx="502920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4231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# Recursive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def factorial_rec(n):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if n == 0:        # Base Case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return 1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else:              # Recursive Call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return n * factorial_rec(n-1)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88136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factorial_rec(4)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  4 * factorial_rec(3)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    3 * factorial_rec(2)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      2 * factorial_rec(1)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        1 * factorial_rec(0)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          return 1           # Base case!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        return 1 * 1 = 1     # Unwind...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      return 2 * 1 = 2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    return 3 * 2 = 6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6C7086"/>
                </a:solidFill>
                <a:latin typeface="Consolas"/>
              </a:rPr>
              <a:t>  return 4 * 6 =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Example 2: Fibonacci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0, 1, 1, 2, 3, 5, 8, 13, 21, 34, ...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fib(0) = 0   |   fib(1) = 1   |   fib(n) = fib(n-1) + fib(n-2)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937759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def fib(n):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if n == 0:            # Base Case 1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return 0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elif n == 1:          # Base Case 2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return 1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else:                  # Recursive Call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return fib(n-1) + fib(n-2)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fib(5)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5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fib(8)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Two base cases are needed because each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value depends on the TWO previous values.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1A3A5C"/>
                </a:solidFill>
                <a:latin typeface="Calibri"/>
              </a:defRPr>
            </a:pPr>
            <a:r>
              <a:t>fib(4) call tree: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             fib(4)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           /        \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      fib(3)        fib(2)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     /      \       /    \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fib(2)    fib(1)  fib(1) fib(0)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  /    \      |       |      |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fib(1) fib(0)   1       1      0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|      |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1      0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C04040"/>
                </a:solidFill>
                <a:latin typeface="Calibri"/>
              </a:defRPr>
            </a:pPr>
            <a:r>
              <a:t>Note: fib(2) is computed TWICE!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This is why tree recursion can be slow.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Example 3: Sum Digits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Problem: sum all digits of a number.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1A3A5C"/>
                </a:solidFill>
                <a:latin typeface="Calibri"/>
              </a:defRPr>
            </a:pPr>
            <a:r>
              <a:t>sum_digits(2026) = 2 + 0 + 2 + 6 =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937759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def sum_digits(n):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if n &lt; 10:                # Base Case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return n               # single digit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else: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last = n % 10          # last digit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rest = n // 10         # all but last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return sum_digits(rest) + last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sum_digits(2026)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10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A6E3A1"/>
                </a:solidFill>
                <a:latin typeface="Consolas"/>
              </a:rPr>
              <a:t>&gt;&gt;&gt; sum_digits(12345)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A3A5C"/>
                </a:solidFill>
                <a:latin typeface="Calibri"/>
              </a:defRPr>
            </a:pPr>
            <a:r>
              <a:t>How it works: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333333"/>
                </a:solidFill>
                <a:latin typeface="Consolas"/>
              </a:defRPr>
            </a:pPr>
            <a:r>
              <a:t>sum_digits(2026)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/>
              </a:defRPr>
            </a:pPr>
            <a:r>
              <a:t>  -&gt; sum_digits(202) + 6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/>
              </a:defRPr>
            </a:pPr>
            <a:r>
              <a:t>    -&gt; sum_digits(20) + 2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/>
              </a:defRPr>
            </a:pPr>
            <a:r>
              <a:t>      -&gt; sum_digits(2) + 0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E7D32"/>
                </a:solidFill>
                <a:latin typeface="Consolas"/>
              </a:defRPr>
            </a:pPr>
            <a:r>
              <a:t>        -&gt; 2    (base case!)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/>
              </a:defRPr>
            </a:pPr>
            <a:r>
              <a:t>      &lt;- 2 + 0 = 2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/>
              </a:defRPr>
            </a:pPr>
            <a:r>
              <a:t>    &lt;- 2 + 2 = 4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/>
              </a:defRPr>
            </a:pPr>
            <a:r>
              <a:t>  &lt;- 4 + 6 =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4389120"/>
            <a:ext cx="5029200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4526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Key pattern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n % 10  -&gt; extract last digit</a:t>
            </a:r>
            <a:br/>
            <a:r>
              <a:t>  n // 10 -&gt; remaining digits (smaller problem)</a:t>
            </a:r>
            <a:br/>
            <a:r>
              <a:t>  Recurse on the smaller part, add the last digit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Example 4: Cascade - Understanding Recursion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Print before and after the recursive call to see both phases.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cascade(123) produces a symmetric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48640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7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def cascade(n):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if n &lt; 10: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print(n)           # Base case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else: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print(n)           # BEFORE recursive call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cascade(n // 10)   # Recursive call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CBA6F7"/>
                </a:solidFill>
                <a:latin typeface="Consolas"/>
              </a:rPr>
              <a:t>        print(n)           # AFTER recursive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737360"/>
            <a:ext cx="228600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onsolas"/>
              </a:defRPr>
            </a:pPr>
            <a:r>
              <a:t>123</a:t>
            </a:r>
            <a:br/>
            <a:r>
              <a:t>12</a:t>
            </a:r>
            <a:br/>
            <a:r>
              <a:t>1</a:t>
            </a:r>
            <a:br/>
            <a:r>
              <a:t>12</a:t>
            </a:r>
            <a:br/>
            <a:r>
              <a:t>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280160"/>
            <a:ext cx="2560320" cy="5029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46304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Phase 1: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Going DOWN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print(123)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print(12)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print(1)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Phase 2: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Coming UP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print(12)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print(123)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Recursion vs. Iteration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57200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Recursion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Function calls itself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Needs base case to terminate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Natural for tree/divide-and-conquer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Uses more memory (stack frames)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Elegant, close to math definitions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Iteration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while / for loops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Needs loop condition to terminate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Natural for linear/sequential tasks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Uses less memory (no extra frames)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Often faster in practice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Lecture 2: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Short Circuiting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or stops at the first truthy value; and stops at the first falsy value. They return the last evaluated operand, not always True/False. Non-zero numbers, non-empty strings, and non-empty lists are all truthy.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Lambda Expressions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lambda &lt;params&gt;: &lt;expression&gt; creates an anonymous function. The body is limited to a single expression. Lambda shines when passing short functions as arguments to higher-order functions.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1A3A5C"/>
                </a:solidFill>
                <a:latin typeface="Calibri"/>
              </a:defRPr>
            </a:pPr>
            <a:r>
              <a:t>Recursion</a:t>
            </a:r>
          </a:p>
          <a:p>
            <a:pPr algn="l">
              <a:spcAft>
                <a:spcPts val="1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 function calling itself to solve smaller sub-problems. Every recursive function needs: (1) base case(s) to stop, (2) recursive call(s) on smaller inputs, (3) a way to combine results. Key examples: factorial, Fibonacci, sum_digits, cascade.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1A3A5C"/>
                </a:solidFill>
                <a:latin typeface="Calibri"/>
              </a:defRPr>
            </a:pPr>
            <a:r>
              <a:t>Use PythonTutor (pythontutor.com) to visualize recursion step by step. Paste in fib, factorial, or cascade and watch the call stack grow and shrink.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